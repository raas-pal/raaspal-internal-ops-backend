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1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2026%20RAASPAL\Customer%20Success\2026_Monthly%20Robot%20Performance%20Report_Raw%20Data%20(Branny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3573506126301369"/>
          <c:y val="0.11657900292824425"/>
          <c:w val="0.55044341848939216"/>
          <c:h val="0.79863626766939644"/>
        </c:manualLayout>
      </c:layout>
      <c:doughnut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94-4F70-8558-F39EFD89EEC5}"/>
              </c:ext>
            </c:extLst>
          </c:dPt>
          <c:dPt>
            <c:idx val="1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94-4F70-8558-F39EFD89EEC5}"/>
              </c:ext>
            </c:extLst>
          </c:dPt>
          <c:val>
            <c:numRef>
              <c:f>'Data Mapping'!$I$10:$J$10</c:f>
              <c:numCache>
                <c:formatCode>General</c:formatCode>
                <c:ptCount val="2"/>
                <c:pt idx="0">
                  <c:v>86.6</c:v>
                </c:pt>
                <c:pt idx="1">
                  <c:v>13.400000000000006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E94-4F70-8558-F39EFD89EE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577101625924509"/>
          <c:y val="0.11657890564368746"/>
          <c:w val="0.52115679578831053"/>
          <c:h val="0.80923451803760227"/>
        </c:manualLayout>
      </c:layout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E47-4C82-A5EB-84FCB130E29F}"/>
              </c:ext>
            </c:extLst>
          </c:dPt>
          <c:dPt>
            <c:idx val="1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E47-4C82-A5EB-84FCB130E29F}"/>
              </c:ext>
            </c:extLst>
          </c:dPt>
          <c:val>
            <c:numRef>
              <c:f>'Data Mapping'!$I$22:$J$22</c:f>
              <c:numCache>
                <c:formatCode>0.00%</c:formatCode>
                <c:ptCount val="2"/>
                <c:pt idx="0">
                  <c:v>0.86576447269496271</c:v>
                </c:pt>
                <c:pt idx="1">
                  <c:v>0.13423552730503729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E47-4C82-A5EB-84FCB130E2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7CD46-BCB2-3A35-5515-9A5BF9CACC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5A70F4-1C00-1022-76F4-4B61D52F5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13FA1-433C-CE66-72F4-5760DE0AA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7CEA-9CA4-47B6-9B07-E529BB9DAC3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16E09-48E2-69A1-938A-AC0DB7EDB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CBDC4-55FC-BF8A-845A-850D79465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5A124-BEED-4A70-BC59-2EA618CAF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464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82A3C-5BA0-B497-8E78-4C3BE2B2E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A9CAC-2EC7-70FD-FD5C-BBD6E4832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5F432-FDC8-7D58-9CA1-D6ACB1EA8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7CEA-9CA4-47B6-9B07-E529BB9DAC3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BE16B-F3F7-2B4F-2FC2-D432DB4B0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2E130-2D90-E3B0-0A85-223290852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5A124-BEED-4A70-BC59-2EA618CAF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68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E6C3C-05DB-5107-7CF8-A645F2406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86AB7F-7BED-5F2B-AFBC-AC6C8F8F0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E5C80-1824-A587-504A-929BCEA9C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7CEA-9CA4-47B6-9B07-E529BB9DAC3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03B8E-37F9-2B9C-ECDB-77646B87C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28C61-8E42-2CAC-B523-1E8DA92F6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5A124-BEED-4A70-BC59-2EA618CAF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602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4F77F-11A9-B10B-A395-2B5A7E242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10162-96B3-9FAF-20B9-8036AA12F2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4D49E4-7A78-5FC0-A1E5-EE3BAC4D9F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5446E0-BB7F-F655-EF4D-BF78D4C43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7CEA-9CA4-47B6-9B07-E529BB9DAC3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2FCB82-44C8-4B0C-94EC-8AF671681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32E679-E1DA-B7F8-FB31-CB8B1CE1C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5A124-BEED-4A70-BC59-2EA618CAF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831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E8E5A-7EFD-AE10-BB81-ECB2B7C97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34CD4-5C08-47DA-3A2D-339539772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BC837-E93B-8B3C-1A28-8ED019978D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70015D-A01E-3DF8-4696-E903ADAF39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64CDDC-B717-5908-9D33-7E818608B0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7BDEC7-8DBC-5D57-2275-6AADC951C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7CEA-9CA4-47B6-9B07-E529BB9DAC3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C1B8D9-66D7-A6F0-E2AE-A3FD7412A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28E01A-645E-3F7D-4BCB-B71D0C321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5A124-BEED-4A70-BC59-2EA618CAF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454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009F8-CD33-485F-5BB0-DD00F3780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97C60F-7177-E788-A4A2-7215042A5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7CEA-9CA4-47B6-9B07-E529BB9DAC3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4D2A16-2A92-63CB-2D1B-C4DA237BC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5F8AC2-723A-7C88-94B6-6CDC04BBF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5A124-BEED-4A70-BC59-2EA618CAF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0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E871D4-D337-93FC-434E-83DB1EAB2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7CEA-9CA4-47B6-9B07-E529BB9DAC3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5379A6-6A8C-CD39-6B9E-334022EA9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39C2A-2D5D-E319-E95E-7076A2068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5A124-BEED-4A70-BC59-2EA618CAF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583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CF627-9C9B-1037-411D-D14926EAF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8361A-0C9D-0842-B67E-9B5890105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38693D-69FF-0CFB-55B5-D132A634B3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1F236-FFE9-131F-392D-A01D8DB3D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7CEA-9CA4-47B6-9B07-E529BB9DAC3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B9017-4398-E8D5-6F27-5D27881B8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F78D5F-BE3A-B4F7-CA1A-EAC36758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5A124-BEED-4A70-BC59-2EA618CAF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088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92398-D489-F625-4F53-931462542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0E2128-7AAE-174B-9BA9-DFD0A6FEE1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71B7CC-A5CB-8E6E-3342-6FC234C544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D2FF8E-F1D4-D8D5-399D-955037400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7CEA-9CA4-47B6-9B07-E529BB9DAC3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9D8710-302B-55C7-E12C-4264417FD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985DE0-C173-9CE9-A151-DEB574E49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5A124-BEED-4A70-BC59-2EA618CAF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974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4D1AB-757C-6B0F-9943-57318E089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853D5E-3035-8E94-3411-20B8BA47E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68B0E-B676-E892-B628-3E1F235C1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7CEA-9CA4-47B6-9B07-E529BB9DAC3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6B029-5914-56EC-8DC3-CC444DD48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FE74D-67AC-B72B-79E2-200812810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5A124-BEED-4A70-BC59-2EA618CAF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672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F26A94-ADEA-87E1-9FFC-2D22CE8A57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0201DD-89FD-80BF-FEC2-16F4CCDC2B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19CAF-29B6-F32C-C27A-3F1862BDC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7CEA-9CA4-47B6-9B07-E529BB9DAC3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405AA-3EA0-0E9E-290C-E666DCD58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9B502-DF1F-EB04-E56F-B753C3847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5A124-BEED-4A70-BC59-2EA618CAF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325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172D00-2580-B1DA-FF00-11F9E4E6B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8C3C44-6598-21F2-387E-13BDD1965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BCA4F-6BDB-14D7-BA80-837B01EA9C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47CEA-9CA4-47B6-9B07-E529BB9DAC3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EAE9B-B59D-87BA-CED5-760A455E65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14153-A2BA-969E-DB89-1E84E32755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95A124-BEED-4A70-BC59-2EA618CAF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48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A48A06D4-6353-9939-88ED-CDD6CD271B79}"/>
              </a:ext>
            </a:extLst>
          </p:cNvPr>
          <p:cNvSpPr/>
          <p:nvPr/>
        </p:nvSpPr>
        <p:spPr>
          <a:xfrm>
            <a:off x="6424069" y="2049744"/>
            <a:ext cx="5156592" cy="38406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4D056EC-E8A5-25A7-947E-C81A8676A69A}"/>
              </a:ext>
            </a:extLst>
          </p:cNvPr>
          <p:cNvSpPr/>
          <p:nvPr/>
        </p:nvSpPr>
        <p:spPr>
          <a:xfrm>
            <a:off x="620487" y="2049744"/>
            <a:ext cx="5156592" cy="38406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4EE429-2E96-CF83-10FE-1F3C95725E80}"/>
              </a:ext>
            </a:extLst>
          </p:cNvPr>
          <p:cNvSpPr txBox="1"/>
          <p:nvPr/>
        </p:nvSpPr>
        <p:spPr>
          <a:xfrm>
            <a:off x="620487" y="315682"/>
            <a:ext cx="54981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RAASPAL Executive Robot Performance Report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June 2026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662A15-E5BE-4595-06D8-D499C580BE42}"/>
              </a:ext>
            </a:extLst>
          </p:cNvPr>
          <p:cNvSpPr txBox="1"/>
          <p:nvPr/>
        </p:nvSpPr>
        <p:spPr>
          <a:xfrm>
            <a:off x="841867" y="2062444"/>
            <a:ext cx="29466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Part 1 :  Executive Summary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55D00D8-8742-445C-966F-A4D88238DA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41280"/>
              </p:ext>
            </p:extLst>
          </p:nvPr>
        </p:nvGraphicFramePr>
        <p:xfrm>
          <a:off x="910493" y="2662996"/>
          <a:ext cx="425659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422">
                  <a:extLst>
                    <a:ext uri="{9D8B030D-6E8A-4147-A177-3AD203B41FA5}">
                      <a16:colId xmlns:a16="http://schemas.microsoft.com/office/drawing/2014/main" val="3403614093"/>
                    </a:ext>
                  </a:extLst>
                </a:gridCol>
                <a:gridCol w="1828176">
                  <a:extLst>
                    <a:ext uri="{9D8B030D-6E8A-4147-A177-3AD203B41FA5}">
                      <a16:colId xmlns:a16="http://schemas.microsoft.com/office/drawing/2014/main" val="632217359"/>
                    </a:ext>
                  </a:extLst>
                </a:gridCol>
              </a:tblGrid>
              <a:tr h="298620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Tasks Completed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912348"/>
                  </a:ext>
                </a:extLst>
              </a:tr>
              <a:tr h="298620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Operating Hours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v-SE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h 12 min 7 sec</a:t>
                      </a:r>
                      <a:r>
                        <a:rPr lang="sv-SE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14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5556570"/>
                  </a:ext>
                </a:extLst>
              </a:tr>
              <a:tr h="2986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Area Cleaned 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12.67 sqm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1632983"/>
                  </a:ext>
                </a:extLst>
              </a:tr>
              <a:tr h="2986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Productivity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62.74 sqm/h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280597"/>
                  </a:ext>
                </a:extLst>
              </a:tr>
              <a:tr h="2986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Water Consumption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2.29 L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088371"/>
                  </a:ext>
                </a:extLst>
              </a:tr>
              <a:tr h="2986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Battery Consumption 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(Branny)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40866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39381AD-F08A-3E8A-816E-63A65B5B1FEE}"/>
              </a:ext>
            </a:extLst>
          </p:cNvPr>
          <p:cNvSpPr txBox="1"/>
          <p:nvPr/>
        </p:nvSpPr>
        <p:spPr>
          <a:xfrm>
            <a:off x="6580022" y="2062444"/>
            <a:ext cx="35076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Part 2 :  Operational Performance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D048F6-7239-1CD6-82CB-07FE3B4AFB9E}"/>
              </a:ext>
            </a:extLst>
          </p:cNvPr>
          <p:cNvSpPr txBox="1"/>
          <p:nvPr/>
        </p:nvSpPr>
        <p:spPr>
          <a:xfrm>
            <a:off x="7142955" y="3887225"/>
            <a:ext cx="443770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Task Type		Floor Washing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Task Status	…..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Tasks per Day	…..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Average Run Time 	(Average Task Duration)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30BE258F-473F-1F52-C809-4D1939900B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7850149"/>
              </p:ext>
            </p:extLst>
          </p:nvPr>
        </p:nvGraphicFramePr>
        <p:xfrm>
          <a:off x="6787830" y="2676589"/>
          <a:ext cx="1738651" cy="11983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12ADA090-AE42-171F-4225-9D238F23828F}"/>
              </a:ext>
            </a:extLst>
          </p:cNvPr>
          <p:cNvSpPr txBox="1"/>
          <p:nvPr/>
        </p:nvSpPr>
        <p:spPr>
          <a:xfrm>
            <a:off x="7288883" y="3141871"/>
            <a:ext cx="7922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86.60%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A4B592-30E0-788A-E2C8-9D10233A559A}"/>
              </a:ext>
            </a:extLst>
          </p:cNvPr>
          <p:cNvSpPr txBox="1"/>
          <p:nvPr/>
        </p:nvSpPr>
        <p:spPr>
          <a:xfrm>
            <a:off x="6647326" y="2522707"/>
            <a:ext cx="20992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Task Completion Rate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67C12181-4249-328D-D9C0-528D69C056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828099"/>
              </p:ext>
            </p:extLst>
          </p:nvPr>
        </p:nvGraphicFramePr>
        <p:xfrm>
          <a:off x="8653581" y="2692498"/>
          <a:ext cx="1860726" cy="11983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FE0988D7-B560-59DA-6770-00DD5319C17A}"/>
              </a:ext>
            </a:extLst>
          </p:cNvPr>
          <p:cNvSpPr txBox="1"/>
          <p:nvPr/>
        </p:nvSpPr>
        <p:spPr>
          <a:xfrm>
            <a:off x="9187842" y="3133894"/>
            <a:ext cx="7922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86.58%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7451E2-3811-4B4B-1492-97E5914A23A5}"/>
              </a:ext>
            </a:extLst>
          </p:cNvPr>
          <p:cNvSpPr txBox="1"/>
          <p:nvPr/>
        </p:nvSpPr>
        <p:spPr>
          <a:xfrm>
            <a:off x="8550218" y="2522706"/>
            <a:ext cx="20992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Cleaning Coverage Rate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D17D79D3-9629-A094-6E81-3913E8D184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373328"/>
              </p:ext>
            </p:extLst>
          </p:nvPr>
        </p:nvGraphicFramePr>
        <p:xfrm>
          <a:off x="1001834" y="5478917"/>
          <a:ext cx="2584812" cy="9036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3633">
                  <a:extLst>
                    <a:ext uri="{9D8B030D-6E8A-4147-A177-3AD203B41FA5}">
                      <a16:colId xmlns:a16="http://schemas.microsoft.com/office/drawing/2014/main" val="3271445488"/>
                    </a:ext>
                  </a:extLst>
                </a:gridCol>
                <a:gridCol w="1061179">
                  <a:extLst>
                    <a:ext uri="{9D8B030D-6E8A-4147-A177-3AD203B41FA5}">
                      <a16:colId xmlns:a16="http://schemas.microsoft.com/office/drawing/2014/main" val="1623470074"/>
                    </a:ext>
                  </a:extLst>
                </a:gridCol>
              </a:tblGrid>
              <a:tr h="3012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Brush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99.92%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1534366"/>
                  </a:ext>
                </a:extLst>
              </a:tr>
              <a:tr h="3012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Filter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619412"/>
                  </a:ext>
                </a:extLst>
              </a:tr>
              <a:tr h="3012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Squeegee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440219"/>
                  </a:ext>
                </a:extLst>
              </a:tr>
            </a:tbl>
          </a:graphicData>
        </a:graphic>
      </p:graphicFrame>
      <p:sp>
        <p:nvSpPr>
          <p:cNvPr id="25" name="Oval 24">
            <a:extLst>
              <a:ext uri="{FF2B5EF4-FFF2-40B4-BE49-F238E27FC236}">
                <a16:creationId xmlns:a16="http://schemas.microsoft.com/office/drawing/2014/main" id="{8ED1C478-D7B1-9F30-A3F1-B2C71432CD28}"/>
              </a:ext>
            </a:extLst>
          </p:cNvPr>
          <p:cNvSpPr/>
          <p:nvPr/>
        </p:nvSpPr>
        <p:spPr>
          <a:xfrm>
            <a:off x="2132297" y="5502770"/>
            <a:ext cx="238539" cy="22782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BE6B101-EB8A-35DF-110A-341EAA93E07F}"/>
              </a:ext>
            </a:extLst>
          </p:cNvPr>
          <p:cNvSpPr/>
          <p:nvPr/>
        </p:nvSpPr>
        <p:spPr>
          <a:xfrm>
            <a:off x="2132298" y="5806035"/>
            <a:ext cx="238539" cy="22782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D077752-72AA-93B5-E4CD-AC3B8BA4DAFA}"/>
              </a:ext>
            </a:extLst>
          </p:cNvPr>
          <p:cNvSpPr/>
          <p:nvPr/>
        </p:nvSpPr>
        <p:spPr>
          <a:xfrm>
            <a:off x="2132298" y="6109300"/>
            <a:ext cx="238539" cy="22782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D5583ED-FB8B-3B67-9387-1163886A03FF}"/>
              </a:ext>
            </a:extLst>
          </p:cNvPr>
          <p:cNvSpPr/>
          <p:nvPr/>
        </p:nvSpPr>
        <p:spPr>
          <a:xfrm>
            <a:off x="620487" y="4827901"/>
            <a:ext cx="5156592" cy="38406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CC95B5-9038-C2BE-0BA4-2E31474E945E}"/>
              </a:ext>
            </a:extLst>
          </p:cNvPr>
          <p:cNvSpPr txBox="1"/>
          <p:nvPr/>
        </p:nvSpPr>
        <p:spPr>
          <a:xfrm>
            <a:off x="838934" y="4816189"/>
            <a:ext cx="30251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Part 3 :  Consumables Status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53F185-6A9A-C382-5168-C7B048A914D1}"/>
              </a:ext>
            </a:extLst>
          </p:cNvPr>
          <p:cNvSpPr txBox="1"/>
          <p:nvPr/>
        </p:nvSpPr>
        <p:spPr>
          <a:xfrm>
            <a:off x="6642516" y="5265007"/>
            <a:ext cx="528221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Recommendations :</a:t>
            </a:r>
          </a:p>
          <a:p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……………………………………………...........................</a:t>
            </a:r>
          </a:p>
          <a:p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………………………………………………………………...</a:t>
            </a:r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C4089231-94C5-373F-387A-B83665CC8A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35244"/>
              </p:ext>
            </p:extLst>
          </p:nvPr>
        </p:nvGraphicFramePr>
        <p:xfrm>
          <a:off x="620487" y="1062566"/>
          <a:ext cx="1095102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7913">
                  <a:extLst>
                    <a:ext uri="{9D8B030D-6E8A-4147-A177-3AD203B41FA5}">
                      <a16:colId xmlns:a16="http://schemas.microsoft.com/office/drawing/2014/main" val="3434924849"/>
                    </a:ext>
                  </a:extLst>
                </a:gridCol>
                <a:gridCol w="3975100">
                  <a:extLst>
                    <a:ext uri="{9D8B030D-6E8A-4147-A177-3AD203B41FA5}">
                      <a16:colId xmlns:a16="http://schemas.microsoft.com/office/drawing/2014/main" val="3643640326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272696765"/>
                    </a:ext>
                  </a:extLst>
                </a:gridCol>
                <a:gridCol w="3646715">
                  <a:extLst>
                    <a:ext uri="{9D8B030D-6E8A-4147-A177-3AD203B41FA5}">
                      <a16:colId xmlns:a16="http://schemas.microsoft.com/office/drawing/2014/main" val="4274819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Customer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Benz Rama3</a:t>
                      </a:r>
                    </a:p>
                  </a:txBody>
                  <a:tcP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Robot Name</a:t>
                      </a:r>
                    </a:p>
                  </a:txBody>
                  <a:tcPr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4321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Site / Branch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Rama3 Road</a:t>
                      </a:r>
                    </a:p>
                  </a:txBody>
                  <a:tcP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SN No.</a:t>
                      </a:r>
                    </a:p>
                  </a:txBody>
                  <a:tcPr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0374858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A07249DA-C006-215C-756D-BDC38C9EBE88}"/>
              </a:ext>
            </a:extLst>
          </p:cNvPr>
          <p:cNvSpPr txBox="1"/>
          <p:nvPr/>
        </p:nvSpPr>
        <p:spPr>
          <a:xfrm>
            <a:off x="9194041" y="234218"/>
            <a:ext cx="264053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Customer needs to know :</a:t>
            </a:r>
          </a:p>
          <a:p>
            <a:r>
              <a:rPr lang="en-US" dirty="0">
                <a:solidFill>
                  <a:srgbClr val="FF0000"/>
                </a:solidFill>
              </a:rPr>
              <a:t>Robot </a:t>
            </a:r>
            <a:r>
              <a:rPr lang="th-TH" dirty="0">
                <a:solidFill>
                  <a:srgbClr val="FF0000"/>
                </a:solidFill>
              </a:rPr>
              <a:t>ทำงานคุ้ม </a:t>
            </a:r>
            <a:r>
              <a:rPr lang="en-US" dirty="0">
                <a:solidFill>
                  <a:srgbClr val="FF0000"/>
                </a:solidFill>
              </a:rPr>
              <a:t>?</a:t>
            </a:r>
          </a:p>
          <a:p>
            <a:r>
              <a:rPr lang="th-TH" dirty="0">
                <a:solidFill>
                  <a:srgbClr val="FF0000"/>
                </a:solidFill>
              </a:rPr>
              <a:t>ช่วยคนทำงานได้ </a:t>
            </a:r>
            <a:r>
              <a:rPr lang="en-US" dirty="0">
                <a:solidFill>
                  <a:srgbClr val="FF0000"/>
                </a:solidFill>
              </a:rPr>
              <a:t>?</a:t>
            </a:r>
          </a:p>
          <a:p>
            <a:r>
              <a:rPr lang="th-TH" dirty="0">
                <a:solidFill>
                  <a:srgbClr val="FF0000"/>
                </a:solidFill>
              </a:rPr>
              <a:t>ทำงานเร็ว </a:t>
            </a:r>
            <a:r>
              <a:rPr lang="en-US" dirty="0">
                <a:solidFill>
                  <a:srgbClr val="FF0000"/>
                </a:solidFill>
              </a:rPr>
              <a:t>?</a:t>
            </a:r>
          </a:p>
          <a:p>
            <a:r>
              <a:rPr lang="th-TH" dirty="0">
                <a:solidFill>
                  <a:srgbClr val="FF0000"/>
                </a:solidFill>
              </a:rPr>
              <a:t>มีปัญหา </a:t>
            </a:r>
            <a:r>
              <a:rPr lang="en-US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44651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134</Words>
  <Application>Microsoft Office PowerPoint</Application>
  <PresentationFormat>Widescreen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Surangkhana Chaiprasart</dc:creator>
  <cp:lastModifiedBy>Surangkhana Chaiprasart</cp:lastModifiedBy>
  <cp:revision>1</cp:revision>
  <dcterms:created xsi:type="dcterms:W3CDTF">2026-06-23T10:13:10Z</dcterms:created>
  <dcterms:modified xsi:type="dcterms:W3CDTF">2026-06-23T10:14:33Z</dcterms:modified>
</cp:coreProperties>
</file>